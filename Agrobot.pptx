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4"/>
  </p:sldMasterIdLst>
  <p:notesMasterIdLst>
    <p:notesMasterId r:id="rId15"/>
  </p:notesMasterIdLst>
  <p:handoutMasterIdLst>
    <p:handoutMasterId r:id="rId16"/>
  </p:handoutMasterIdLst>
  <p:sldIdLst>
    <p:sldId id="281" r:id="rId5"/>
    <p:sldId id="355" r:id="rId6"/>
    <p:sldId id="283" r:id="rId7"/>
    <p:sldId id="361" r:id="rId8"/>
    <p:sldId id="351" r:id="rId9"/>
    <p:sldId id="360" r:id="rId10"/>
    <p:sldId id="272" r:id="rId11"/>
    <p:sldId id="362" r:id="rId12"/>
    <p:sldId id="363" r:id="rId13"/>
    <p:sldId id="28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60" userDrawn="1">
          <p15:clr>
            <a:srgbClr val="A4A3A4"/>
          </p15:clr>
        </p15:guide>
        <p15:guide id="2" pos="7392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474" autoAdjust="0"/>
    <p:restoredTop sz="94660"/>
  </p:normalViewPr>
  <p:slideViewPr>
    <p:cSldViewPr snapToGrid="0">
      <p:cViewPr varScale="1">
        <p:scale>
          <a:sx n="63" d="100"/>
          <a:sy n="63" d="100"/>
        </p:scale>
        <p:origin x="936" y="56"/>
      </p:cViewPr>
      <p:guideLst>
        <p:guide pos="360"/>
        <p:guide pos="7392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80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EB018AA-DEA7-448F-AE2F-C3D13A0F02A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B87A71-96EB-4108-95A3-855A4C3601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647F05-0506-494A-8060-3F395B947DF9}" type="datetimeFigureOut">
              <a:rPr lang="en-US" smtClean="0"/>
              <a:t>11/26/2025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45591A-E83D-4F8A-B064-12B29D3154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AF2308-535F-471C-9423-3467454C92F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61E857-36B8-43F1-9D87-FE508167BCE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02314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BC0A13-3F3D-45D4-B17C-1E0ACF36A6FB}" type="datetimeFigureOut">
              <a:rPr lang="en-US" smtClean="0"/>
              <a:t>11/26/2025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FAAAB6-A2C6-4A85-A3A1-98EFBA61C96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6752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i="0" dirty="0">
              <a:effectLst/>
              <a:latin typeface="Segoe UI" panose="020B0502040204020203" pitchFamily="34" charset="0"/>
            </a:endParaRPr>
          </a:p>
          <a:p>
            <a:r>
              <a:rPr lang="en-US" dirty="0"/>
              <a:t>ID=d924773e-9a16-4d6d-9803-8cb819e99682
Recipe=text_billboard
Type=TextOnly
Variant=0
FamilyID=AccentBoxWalbaum_Zero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A36B1-75F6-458C-B388-8BC01E9857C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3205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DC0559-D619-4E56-BF6F-3712370C215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5412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22F03-8449-FC58-3FC1-F5C8E2654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BD764C-9514-7C5C-58DC-CD4FCEA10C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3D0A5C-9CFD-A05D-CE05-80056CBDDE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3674AF-9E2A-499E-A6A7-5AEA6684FE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DC0559-D619-4E56-BF6F-3712370C2150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8661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BC5C50C9-5CB7-4938-BEDF-DD2FC7529FA9}"/>
              </a:ext>
            </a:extLst>
          </p:cNvPr>
          <p:cNvSpPr/>
          <p:nvPr userDrawn="1"/>
        </p:nvSpPr>
        <p:spPr>
          <a:xfrm>
            <a:off x="1528762" y="1473243"/>
            <a:ext cx="9144000" cy="3007447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1368" y="1664208"/>
            <a:ext cx="8586216" cy="2176272"/>
          </a:xfrm>
        </p:spPr>
        <p:txBody>
          <a:bodyPr anchor="ctr">
            <a:normAutofit/>
          </a:bodyPr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87168" y="4142232"/>
            <a:ext cx="7223760" cy="685800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9640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4064" y="1078992"/>
            <a:ext cx="6272784" cy="1536192"/>
          </a:xfrm>
        </p:spPr>
        <p:txBody>
          <a:bodyPr anchor="b"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4064" y="3355848"/>
            <a:ext cx="6272784" cy="2825496"/>
          </a:xfrm>
        </p:spPr>
        <p:txBody>
          <a:bodyPr/>
          <a:lstStyle>
            <a:lvl1pPr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5256" y="6356350"/>
            <a:ext cx="2743200" cy="365125"/>
          </a:xfrm>
        </p:spPr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4164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EEEC07-DA87-4415-8D6B-72E1B2686535}"/>
              </a:ext>
            </a:extLst>
          </p:cNvPr>
          <p:cNvSpPr/>
          <p:nvPr userDrawn="1"/>
        </p:nvSpPr>
        <p:spPr>
          <a:xfrm rot="5400000">
            <a:off x="5317960" y="363389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C47E32-D289-4A1B-A3C7-A355CD5572E8}"/>
              </a:ext>
            </a:extLst>
          </p:cNvPr>
          <p:cNvSpPr/>
          <p:nvPr userDrawn="1"/>
        </p:nvSpPr>
        <p:spPr>
          <a:xfrm>
            <a:off x="5099266" y="2935541"/>
            <a:ext cx="621792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9F91D62-7A39-4697-A73D-908DBA590E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603504"/>
            <a:ext cx="4050792" cy="5577840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2587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078992"/>
            <a:ext cx="6272784" cy="1536192"/>
          </a:xfrm>
        </p:spPr>
        <p:txBody>
          <a:bodyPr anchor="b"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3355848"/>
            <a:ext cx="6272784" cy="2825496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05272" y="6356350"/>
            <a:ext cx="1280160" cy="365125"/>
          </a:xfrm>
        </p:spPr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EEEC07-DA87-4415-8D6B-72E1B2686535}"/>
              </a:ext>
            </a:extLst>
          </p:cNvPr>
          <p:cNvSpPr/>
          <p:nvPr userDrawn="1"/>
        </p:nvSpPr>
        <p:spPr>
          <a:xfrm rot="5400000">
            <a:off x="850392" y="365760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9F91D62-7A39-4697-A73D-908DBA590E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680960" y="4352544"/>
            <a:ext cx="4507992" cy="2505456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14">
            <a:extLst>
              <a:ext uri="{FF2B5EF4-FFF2-40B4-BE49-F238E27FC236}">
                <a16:creationId xmlns:a16="http://schemas.microsoft.com/office/drawing/2014/main" id="{687A7A61-F904-44E0-837C-FB357932BC1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680960" y="0"/>
            <a:ext cx="4507992" cy="4123944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EFA3CC7-31ED-4E5A-87A6-AA1D8F4251FC}"/>
              </a:ext>
            </a:extLst>
          </p:cNvPr>
          <p:cNvSpPr/>
          <p:nvPr userDrawn="1"/>
        </p:nvSpPr>
        <p:spPr>
          <a:xfrm>
            <a:off x="621792" y="2935541"/>
            <a:ext cx="621792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178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B541A812-4D3F-4D65-BA64-BA64E37F2C1D}"/>
              </a:ext>
            </a:extLst>
          </p:cNvPr>
          <p:cNvSpPr/>
          <p:nvPr userDrawn="1"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7013448" cy="2990088"/>
          </a:xfrm>
        </p:spPr>
        <p:txBody>
          <a:bodyPr anchor="ctr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13648" y="1938528"/>
            <a:ext cx="2688336" cy="2990088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16BBE9-8A9C-450B-A235-677945C7ED44}"/>
              </a:ext>
            </a:extLst>
          </p:cNvPr>
          <p:cNvSpPr/>
          <p:nvPr userDrawn="1"/>
        </p:nvSpPr>
        <p:spPr>
          <a:xfrm>
            <a:off x="609084" y="2965074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55E7BF-3629-4C02-98DF-CFC1C93CE036}"/>
              </a:ext>
            </a:extLst>
          </p:cNvPr>
          <p:cNvSpPr/>
          <p:nvPr userDrawn="1"/>
        </p:nvSpPr>
        <p:spPr>
          <a:xfrm rot="5400000">
            <a:off x="7360539" y="3424428"/>
            <a:ext cx="2103120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3540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 userDrawn="1"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1852" y="6356350"/>
            <a:ext cx="2743200" cy="365125"/>
          </a:xfrm>
        </p:spPr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869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673635DF-99E4-4A0C-A272-D9FF87695DE7}"/>
              </a:ext>
            </a:extLst>
          </p:cNvPr>
          <p:cNvSpPr/>
          <p:nvPr userDrawn="1"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90C76F-6331-4485-AA5B-D61483481F68}"/>
              </a:ext>
            </a:extLst>
          </p:cNvPr>
          <p:cNvSpPr/>
          <p:nvPr userDrawn="1"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CB2BA4C-9ADA-41DB-B758-9E3CFECDF5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5256" y="6356350"/>
            <a:ext cx="2743200" cy="365125"/>
          </a:xfrm>
        </p:spPr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0957ADB-410A-48BE-AA95-3A708314B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112591B-8032-4FDF-9B26-8F505642C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4522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42F4163-FF9F-453F-99BB-82B8FDB0A1F9}"/>
              </a:ext>
            </a:extLst>
          </p:cNvPr>
          <p:cNvSpPr/>
          <p:nvPr userDrawn="1"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9F91D62-7A39-4697-A73D-908DBA590EF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22392" y="2798064"/>
            <a:ext cx="1463040" cy="1481328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10" name="Picture Placeholder 14">
            <a:extLst>
              <a:ext uri="{FF2B5EF4-FFF2-40B4-BE49-F238E27FC236}">
                <a16:creationId xmlns:a16="http://schemas.microsoft.com/office/drawing/2014/main" id="{687A7A61-F904-44E0-837C-FB357932BC1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76072" y="2798064"/>
            <a:ext cx="1463040" cy="1481328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16" name="Picture Placeholder 14">
            <a:extLst>
              <a:ext uri="{FF2B5EF4-FFF2-40B4-BE49-F238E27FC236}">
                <a16:creationId xmlns:a16="http://schemas.microsoft.com/office/drawing/2014/main" id="{6B8374DB-2C54-426F-9768-7B838BE1F98D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7845552" y="2798064"/>
            <a:ext cx="1463040" cy="1481328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6763C05-47FB-4725-A20D-066889246220}"/>
              </a:ext>
            </a:extLst>
          </p:cNvPr>
          <p:cNvSpPr/>
          <p:nvPr userDrawn="1"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9EDC39EC-C00D-4DE8-8828-E0E5AD579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2" name="Picture Placeholder 14">
            <a:extLst>
              <a:ext uri="{FF2B5EF4-FFF2-40B4-BE49-F238E27FC236}">
                <a16:creationId xmlns:a16="http://schemas.microsoft.com/office/drawing/2014/main" id="{AC393A50-B0FA-44B0-850A-6E748DECA20A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2999232" y="2798064"/>
            <a:ext cx="1463040" cy="1481328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33" name="Picture Placeholder 14">
            <a:extLst>
              <a:ext uri="{FF2B5EF4-FFF2-40B4-BE49-F238E27FC236}">
                <a16:creationId xmlns:a16="http://schemas.microsoft.com/office/drawing/2014/main" id="{C19D18E3-AE27-4902-A5E1-1E388C8CA886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10268712" y="2798064"/>
            <a:ext cx="1463040" cy="1481328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C4A1E4D4-19E0-496B-BBAF-99A720781C00}"/>
              </a:ext>
            </a:extLst>
          </p:cNvPr>
          <p:cNvSpPr>
            <a:spLocks noGrp="1"/>
          </p:cNvSpPr>
          <p:nvPr>
            <p:ph type="dt" sz="half" idx="32"/>
          </p:nvPr>
        </p:nvSpPr>
        <p:spPr>
          <a:xfrm>
            <a:off x="905256" y="6356350"/>
            <a:ext cx="2743200" cy="365125"/>
          </a:xfrm>
        </p:spPr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D0281C10-EAAA-4F45-8CC9-87F9F9116C21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389175D6-43FD-42A2-8595-893FC3BFCDF6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7" name="Text Placeholder 35">
            <a:extLst>
              <a:ext uri="{FF2B5EF4-FFF2-40B4-BE49-F238E27FC236}">
                <a16:creationId xmlns:a16="http://schemas.microsoft.com/office/drawing/2014/main" id="{28F74B10-F76D-4BBB-A284-01D5A0DF8BC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431536" y="4489704"/>
            <a:ext cx="1462088" cy="64928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</p:txBody>
      </p:sp>
      <p:sp>
        <p:nvSpPr>
          <p:cNvPr id="38" name="Text Placeholder 35">
            <a:extLst>
              <a:ext uri="{FF2B5EF4-FFF2-40B4-BE49-F238E27FC236}">
                <a16:creationId xmlns:a16="http://schemas.microsoft.com/office/drawing/2014/main" id="{BD245DC2-6D7B-4AEE-B8EE-0D0E473AFFF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845552" y="4489704"/>
            <a:ext cx="1462088" cy="64928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</p:txBody>
      </p:sp>
      <p:sp>
        <p:nvSpPr>
          <p:cNvPr id="39" name="Text Placeholder 35">
            <a:extLst>
              <a:ext uri="{FF2B5EF4-FFF2-40B4-BE49-F238E27FC236}">
                <a16:creationId xmlns:a16="http://schemas.microsoft.com/office/drawing/2014/main" id="{28069EAF-8C82-49CC-8A38-2ACAD26F7DE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268712" y="4489704"/>
            <a:ext cx="1462088" cy="64928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DAA3B1CD-59B3-4B73-B91A-88CED1D8FDD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94360" y="4489704"/>
            <a:ext cx="1462088" cy="64928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</p:txBody>
      </p:sp>
      <p:sp>
        <p:nvSpPr>
          <p:cNvPr id="41" name="Text Placeholder 35">
            <a:extLst>
              <a:ext uri="{FF2B5EF4-FFF2-40B4-BE49-F238E27FC236}">
                <a16:creationId xmlns:a16="http://schemas.microsoft.com/office/drawing/2014/main" id="{C1FED6B0-DEB7-46E3-8038-FE6788AC24A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008376" y="4489704"/>
            <a:ext cx="1462088" cy="64928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431511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5256" y="6356350"/>
            <a:ext cx="2743200" cy="365125"/>
          </a:xfrm>
        </p:spPr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6934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 userDrawn="1"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6072" y="2372650"/>
            <a:ext cx="329184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072" y="3203688"/>
            <a:ext cx="3291840" cy="2968512"/>
          </a:xfrm>
        </p:spPr>
        <p:txBody>
          <a:bodyPr/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507992" y="2372650"/>
            <a:ext cx="329184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07992" y="3203687"/>
            <a:ext cx="3291840" cy="2968511"/>
          </a:xfrm>
        </p:spPr>
        <p:txBody>
          <a:bodyPr/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5256" y="6356350"/>
            <a:ext cx="2743200" cy="365125"/>
          </a:xfrm>
        </p:spPr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CE04853A-B5A7-418B-B49F-E718136614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39912" y="2372650"/>
            <a:ext cx="329184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D08E5547-BBB9-4D87-A012-6BC6B133086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39912" y="3203687"/>
            <a:ext cx="3291840" cy="2968511"/>
          </a:xfrm>
        </p:spPr>
        <p:txBody>
          <a:bodyPr/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261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3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2CD68929-9BD1-4A1E-9C1E-5B980D986EC1}"/>
              </a:ext>
            </a:extLst>
          </p:cNvPr>
          <p:cNvSpPr/>
          <p:nvPr userDrawn="1"/>
        </p:nvSpPr>
        <p:spPr>
          <a:xfrm>
            <a:off x="409575" y="633619"/>
            <a:ext cx="4927413" cy="5495925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978408"/>
            <a:ext cx="4059936" cy="1106424"/>
          </a:xfrm>
        </p:spPr>
        <p:txBody>
          <a:bodyPr anchor="ctr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2359152"/>
            <a:ext cx="4059936" cy="3429000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9F91D62-7A39-4697-A73D-908DBA590E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961120" y="566928"/>
            <a:ext cx="2871216" cy="2340864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14">
            <a:extLst>
              <a:ext uri="{FF2B5EF4-FFF2-40B4-BE49-F238E27FC236}">
                <a16:creationId xmlns:a16="http://schemas.microsoft.com/office/drawing/2014/main" id="{687A7A61-F904-44E0-837C-FB357932BC1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843016" y="566928"/>
            <a:ext cx="2871216" cy="2340864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ED68CE-A00C-4DD9-8065-B0E3D033BC20}"/>
              </a:ext>
            </a:extLst>
          </p:cNvPr>
          <p:cNvSpPr/>
          <p:nvPr userDrawn="1"/>
        </p:nvSpPr>
        <p:spPr>
          <a:xfrm>
            <a:off x="345567" y="117043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3EDCB6-603C-4A22-80E6-232A6202452A}"/>
              </a:ext>
            </a:extLst>
          </p:cNvPr>
          <p:cNvSpPr/>
          <p:nvPr userDrawn="1"/>
        </p:nvSpPr>
        <p:spPr>
          <a:xfrm>
            <a:off x="877459" y="2121408"/>
            <a:ext cx="3958650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FBB9124E-D1EB-4540-B1E1-DF3CD388BB2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843016" y="3108960"/>
            <a:ext cx="5989320" cy="3054096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88171D0F-B23C-4DA9-9F5D-C5F480A4C5BE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905256" y="6356350"/>
            <a:ext cx="2743200" cy="365125"/>
          </a:xfrm>
        </p:spPr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69186A5E-A88B-4AD5-8730-E1679229BB98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FDD4F609-6DE6-4637-A216-DB19D982FF19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7971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2CD68929-9BD1-4A1E-9C1E-5B980D986EC1}"/>
              </a:ext>
            </a:extLst>
          </p:cNvPr>
          <p:cNvSpPr/>
          <p:nvPr userDrawn="1"/>
        </p:nvSpPr>
        <p:spPr>
          <a:xfrm>
            <a:off x="7324344" y="630936"/>
            <a:ext cx="4517136" cy="5495925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978408"/>
            <a:ext cx="3721608" cy="1106424"/>
          </a:xfrm>
        </p:spPr>
        <p:txBody>
          <a:bodyPr anchor="ctr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9F91D62-7A39-4697-A73D-908DBA590E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67328" y="630936"/>
            <a:ext cx="3246120" cy="2688336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14">
            <a:extLst>
              <a:ext uri="{FF2B5EF4-FFF2-40B4-BE49-F238E27FC236}">
                <a16:creationId xmlns:a16="http://schemas.microsoft.com/office/drawing/2014/main" id="{687A7A61-F904-44E0-837C-FB357932BC1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1480" y="630936"/>
            <a:ext cx="3246120" cy="2688336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ED68CE-A00C-4DD9-8065-B0E3D033BC20}"/>
              </a:ext>
            </a:extLst>
          </p:cNvPr>
          <p:cNvSpPr/>
          <p:nvPr userDrawn="1"/>
        </p:nvSpPr>
        <p:spPr>
          <a:xfrm>
            <a:off x="7260336" y="1179576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FBB9124E-D1EB-4540-B1E1-DF3CD388BB2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11480" y="3438144"/>
            <a:ext cx="3246120" cy="2688336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88171D0F-B23C-4DA9-9F5D-C5F480A4C5BE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905256" y="6356350"/>
            <a:ext cx="2743200" cy="365125"/>
          </a:xfrm>
        </p:spPr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69186A5E-A88B-4AD5-8730-E1679229BB98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FDD4F609-6DE6-4637-A216-DB19D982FF19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5280B1-DD77-4ADB-A6FC-71309BCB66E1}"/>
              </a:ext>
            </a:extLst>
          </p:cNvPr>
          <p:cNvSpPr/>
          <p:nvPr userDrawn="1"/>
        </p:nvSpPr>
        <p:spPr>
          <a:xfrm>
            <a:off x="7792216" y="2185416"/>
            <a:ext cx="3683187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Picture Placeholder 14">
            <a:extLst>
              <a:ext uri="{FF2B5EF4-FFF2-40B4-BE49-F238E27FC236}">
                <a16:creationId xmlns:a16="http://schemas.microsoft.com/office/drawing/2014/main" id="{6B8374DB-2C54-426F-9768-7B838BE1F98D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767328" y="3438144"/>
            <a:ext cx="3246120" cy="2688336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0D33A8D-B0BB-4920-AAC4-6EE9952AA55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772400" y="3099816"/>
            <a:ext cx="3721100" cy="447675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FC2F80E1-DA5D-4EBA-BDBC-FFD24776ED0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772400" y="4215384"/>
            <a:ext cx="3721100" cy="447675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536A3E74-5D94-4FE5-A5F8-7DA032AD48A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772400" y="5321808"/>
            <a:ext cx="3721100" cy="447675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14">
            <a:extLst>
              <a:ext uri="{FF2B5EF4-FFF2-40B4-BE49-F238E27FC236}">
                <a16:creationId xmlns:a16="http://schemas.microsoft.com/office/drawing/2014/main" id="{A36D2011-9E99-44AA-8612-4EEBAAA5D036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7772400" y="2532888"/>
            <a:ext cx="457200" cy="457200"/>
          </a:xfrm>
        </p:spPr>
        <p:txBody>
          <a:bodyPr anchor="ctr"/>
          <a:lstStyle>
            <a:lvl1pPr algn="ctr">
              <a:buNone/>
              <a:defRPr sz="9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4" name="Picture Placeholder 14">
            <a:extLst>
              <a:ext uri="{FF2B5EF4-FFF2-40B4-BE49-F238E27FC236}">
                <a16:creationId xmlns:a16="http://schemas.microsoft.com/office/drawing/2014/main" id="{80B0958E-0709-4604-ADAF-A6137275F31B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772400" y="3630168"/>
            <a:ext cx="457200" cy="457200"/>
          </a:xfrm>
        </p:spPr>
        <p:txBody>
          <a:bodyPr anchor="ctr"/>
          <a:lstStyle>
            <a:lvl1pPr algn="ctr">
              <a:buNone/>
              <a:defRPr sz="9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5" name="Picture Placeholder 14">
            <a:extLst>
              <a:ext uri="{FF2B5EF4-FFF2-40B4-BE49-F238E27FC236}">
                <a16:creationId xmlns:a16="http://schemas.microsoft.com/office/drawing/2014/main" id="{F4A09204-1398-472F-B713-0AD49188773D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7772400" y="4754880"/>
            <a:ext cx="457200" cy="457200"/>
          </a:xfrm>
        </p:spPr>
        <p:txBody>
          <a:bodyPr anchor="ctr"/>
          <a:lstStyle>
            <a:lvl1pPr algn="ctr">
              <a:buNone/>
              <a:defRPr sz="900"/>
            </a:lvl1pPr>
          </a:lstStyle>
          <a:p>
            <a:r>
              <a:rPr lang="en-US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4393436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 userDrawn="1"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09944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03778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72245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r>
              <a:rPr lang="en-US" dirty="0"/>
              <a:t>9/4/20XX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3248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9/4/20XX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5134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30" r:id="rId2"/>
    <p:sldLayoutId id="2147483731" r:id="rId3"/>
    <p:sldLayoutId id="2147483723" r:id="rId4"/>
    <p:sldLayoutId id="2147483722" r:id="rId5"/>
    <p:sldLayoutId id="2147483732" r:id="rId6"/>
    <p:sldLayoutId id="2147483736" r:id="rId7"/>
    <p:sldLayoutId id="2147483725" r:id="rId8"/>
    <p:sldLayoutId id="2147483733" r:id="rId9"/>
    <p:sldLayoutId id="2147483734" r:id="rId10"/>
    <p:sldLayoutId id="2147483735" r:id="rId11"/>
    <p:sldLayoutId id="2147483726" r:id="rId12"/>
    <p:sldLayoutId id="2147483727" r:id="rId13"/>
    <p:sldLayoutId id="2147483728" r:id="rId14"/>
    <p:sldLayoutId id="2147483729" r:id="rId1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D9D20-B4BB-42AA-8DDD-68CC9F1D95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Infosys Springboard Internship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9E8FDB-60EE-45AE-BB89-9A561A61C2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Sanchita H</a:t>
            </a:r>
          </a:p>
        </p:txBody>
      </p:sp>
    </p:spTree>
    <p:extLst>
      <p:ext uri="{BB962C8B-B14F-4D97-AF65-F5344CB8AC3E}">
        <p14:creationId xmlns:p14="http://schemas.microsoft.com/office/powerpoint/2010/main" val="183373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4A85B-2AC6-4E29-B074-AB92F8FA9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4912" y="441045"/>
            <a:ext cx="6272784" cy="1536192"/>
          </a:xfrm>
        </p:spPr>
        <p:txBody>
          <a:bodyPr/>
          <a:lstStyle/>
          <a:p>
            <a:pPr algn="ctr"/>
            <a:r>
              <a:rPr lang="en-US" sz="5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9FA539-2DA6-4197-AA13-56E0C3395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t>2</a:t>
            </a:fld>
            <a:endParaRPr lang="en-US" dirty="0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4190F17-E471-6E2A-20D7-68F04749EF2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42315" y="2380207"/>
            <a:ext cx="11238718" cy="3268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evelop an AI-powered plant disease detection system to assist farmers in early disease identification 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reate a multilingual NLP interface supporting all major Indian languages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rovide accurate, real-time diagnosis through both image analysis and text-based symptom description 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eliver actionable treatment recommendations in the farmer's native language 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bridge the digital literacy gap through an intuitive, easy-to-use interface .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crop losses through early disease detection .</a:t>
            </a:r>
          </a:p>
        </p:txBody>
      </p:sp>
    </p:spTree>
    <p:extLst>
      <p:ext uri="{BB962C8B-B14F-4D97-AF65-F5344CB8AC3E}">
        <p14:creationId xmlns:p14="http://schemas.microsoft.com/office/powerpoint/2010/main" val="41678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209E4-B947-4446-AD42-C1B3A0C1F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136525"/>
            <a:ext cx="10168128" cy="1179576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and Workflow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E797B30-1740-4A68-A40B-1D255EBC2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AF7DF4-1F2A-61FD-0B12-C8DFAA2A74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1936" y="1184020"/>
            <a:ext cx="10168128" cy="5172330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PlantVillage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 containing 54,000+ images across 38 disease classes covering 14 plant species.</a:t>
            </a:r>
          </a:p>
          <a:p>
            <a:pPr>
              <a:lnSpc>
                <a:spcPct val="120000"/>
              </a:lnSpc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Split: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is split into two parts: </a:t>
            </a:r>
          </a:p>
          <a:p>
            <a:pPr lvl="1">
              <a:lnSpc>
                <a:spcPct val="1200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80% training</a:t>
            </a:r>
          </a:p>
          <a:p>
            <a:pPr lvl="1">
              <a:lnSpc>
                <a:spcPct val="1200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20% validation</a:t>
            </a:r>
          </a:p>
          <a:p>
            <a:pPr>
              <a:lnSpc>
                <a:spcPct val="120000"/>
              </a:lnSpc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Preprocessing: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lnSpc>
                <a:spcPct val="1200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Resized images to 128 x 128</a:t>
            </a:r>
          </a:p>
          <a:p>
            <a:pPr lvl="1">
              <a:lnSpc>
                <a:spcPct val="1200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Normalized pixel values to [0,1]</a:t>
            </a:r>
          </a:p>
          <a:p>
            <a:pPr>
              <a:lnSpc>
                <a:spcPct val="120000"/>
              </a:lnSpc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Model:</a:t>
            </a: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Convolutional Neural Network trained on plant disease images</a:t>
            </a:r>
          </a:p>
          <a:p>
            <a:pPr lvl="1">
              <a:lnSpc>
                <a:spcPct val="1200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Multi-layer architecture with pooling and dropout layers</a:t>
            </a:r>
          </a:p>
          <a:p>
            <a:pPr>
              <a:lnSpc>
                <a:spcPct val="120000"/>
              </a:lnSpc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System:</a:t>
            </a: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Translator API for multilingual support</a:t>
            </a:r>
          </a:p>
          <a:p>
            <a:pPr lvl="1">
              <a:lnSpc>
                <a:spcPct val="1200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Script-based language detection using Unicode ranges</a:t>
            </a:r>
          </a:p>
          <a:p>
            <a:pPr lvl="1">
              <a:lnSpc>
                <a:spcPct val="1200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Fuzzy symptom matching with 60% threshold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6EE4CC-2CED-BC92-3CE5-253BE8CC65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5856" y="1666240"/>
            <a:ext cx="4307840" cy="45415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1EF8F84-8F61-12EF-A86A-D909746DE493}"/>
              </a:ext>
            </a:extLst>
          </p:cNvPr>
          <p:cNvSpPr txBox="1"/>
          <p:nvPr/>
        </p:nvSpPr>
        <p:spPr>
          <a:xfrm>
            <a:off x="7691120" y="6207760"/>
            <a:ext cx="3312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2742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C219B-D84C-6BED-9A02-70DC33BA9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24BA3-035E-9AE8-535C-EE6B9CE26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136525"/>
            <a:ext cx="10168128" cy="1179576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and Workflow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664BFDD-40F2-C126-5525-48234FAAD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86CF1C-D26F-0BA6-2676-FDAF6F0BC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0460" y="1316100"/>
            <a:ext cx="10168128" cy="4911979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Dual Input Architecture:</a:t>
            </a: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  <a:buFont typeface="Courier New" panose="02070309020205020404" pitchFamily="49" charset="0"/>
              <a:buChar char="o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Analysis: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CNN-based classification for uploaded plant images</a:t>
            </a:r>
          </a:p>
          <a:p>
            <a:pPr lvl="1">
              <a:lnSpc>
                <a:spcPct val="120000"/>
              </a:lnSpc>
              <a:buFont typeface="Courier New" panose="02070309020205020404" pitchFamily="49" charset="0"/>
              <a:buChar char="o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Analysis: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NLP-based diagnosis from symptom descriptions in 13 languages</a:t>
            </a:r>
          </a:p>
          <a:p>
            <a:pPr>
              <a:lnSpc>
                <a:spcPct val="120000"/>
              </a:lnSpc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Integration:</a:t>
            </a:r>
          </a:p>
          <a:p>
            <a:pPr lvl="1">
              <a:lnSpc>
                <a:spcPct val="120000"/>
              </a:lnSpc>
              <a:buFont typeface="Courier New" panose="02070309020205020404" pitchFamily="49" charset="0"/>
              <a:buChar char="o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 REST API for model serving</a:t>
            </a:r>
          </a:p>
          <a:p>
            <a:pPr lvl="1">
              <a:lnSpc>
                <a:spcPct val="120000"/>
              </a:lnSpc>
              <a:buFont typeface="Courier New" panose="02070309020205020404" pitchFamily="49" charset="0"/>
              <a:buChar char="o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TensorFlow for inference</a:t>
            </a:r>
          </a:p>
          <a:p>
            <a:pPr lvl="1">
              <a:lnSpc>
                <a:spcPct val="120000"/>
              </a:lnSpc>
              <a:buFont typeface="Courier New" panose="02070309020205020404" pitchFamily="49" charset="0"/>
              <a:buChar char="o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translation pipeline</a:t>
            </a:r>
          </a:p>
          <a:p>
            <a:pPr>
              <a:lnSpc>
                <a:spcPct val="120000"/>
              </a:lnSpc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Symptom Matching Algorithm:</a:t>
            </a:r>
          </a:p>
          <a:p>
            <a:pPr lvl="1">
              <a:lnSpc>
                <a:spcPct val="1200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 recognition on normalized symptom text </a:t>
            </a:r>
          </a:p>
          <a:p>
            <a:pPr lvl="1">
              <a:lnSpc>
                <a:spcPct val="120000"/>
              </a:lnSpc>
              <a:buFont typeface="Courier New" panose="02070309020205020404" pitchFamily="49" charset="0"/>
              <a:buChar char="o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Confidence-based disease ranking</a:t>
            </a:r>
          </a:p>
          <a:p>
            <a:pPr>
              <a:lnSpc>
                <a:spcPct val="120000"/>
              </a:lnSpc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Translation:</a:t>
            </a:r>
          </a:p>
          <a:p>
            <a:pPr lvl="1">
              <a:lnSpc>
                <a:spcPct val="1200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Auto-detection of 12 Indian languages + English</a:t>
            </a:r>
          </a:p>
          <a:p>
            <a:pPr lvl="1">
              <a:lnSpc>
                <a:spcPct val="120000"/>
              </a:lnSpc>
              <a:buFont typeface="Courier New" panose="02070309020205020404" pitchFamily="49" charset="0"/>
              <a:buChar char="o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Bidirectional translation</a:t>
            </a:r>
          </a:p>
          <a:p>
            <a:pPr>
              <a:lnSpc>
                <a:spcPct val="120000"/>
              </a:lnSpc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Deployment: </a:t>
            </a:r>
          </a:p>
          <a:p>
            <a:pPr lvl="1">
              <a:lnSpc>
                <a:spcPct val="1200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Web-based interface with responsive design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145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209E4-B947-4446-AD42-C1B3A0C1F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01650"/>
            <a:ext cx="10168128" cy="1179576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Analysis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7357B90-43D4-43A9-9C2B-156AED8FF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E34869-77E4-12FA-1A4E-C855ED7EC36E}"/>
              </a:ext>
            </a:extLst>
          </p:cNvPr>
          <p:cNvSpPr txBox="1"/>
          <p:nvPr/>
        </p:nvSpPr>
        <p:spPr>
          <a:xfrm>
            <a:off x="1639824" y="2047478"/>
            <a:ext cx="10911840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Analysis: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 Barrier: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70% of Indian farmers speak regional languages, not English 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Accessibility Gap: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Limited access to agricultural experts in rural areas 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Time-Critical Decisions: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Disease spreads rapidly so early detection is crucial 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Analysis: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Support: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Automatic language detection for 12 Indian languages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Real-time translation using Deep Translator API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  Dual Detection Approach: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Combined image and text analysis approach for higher reliability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  Accessibility Features: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drag-and-drop interface with zero learning curve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 Smart Diagnosis Engine: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Symptom matching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Contextual treatment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4266353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3B0FAD77-BC9B-4F5F-94D5-AA246F14F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5672" y="136525"/>
            <a:ext cx="10168128" cy="1179576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Architecture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BFF618EE-5A1C-450F-9B69-114AD205798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7676D7D-4769-C5F7-8665-B1EA2C92191D}"/>
              </a:ext>
            </a:extLst>
          </p:cNvPr>
          <p:cNvSpPr txBox="1"/>
          <p:nvPr/>
        </p:nvSpPr>
        <p:spPr>
          <a:xfrm>
            <a:off x="930656" y="2014597"/>
            <a:ext cx="1096264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Convolutional Neural Network Architecture: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Conv2D +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layers for feature extraction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MaxPooling2D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reduce spatial dimensions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Stacked convolution blocks for deeper representation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Flatten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layer to convert features into 1D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Dense layers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classification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output layer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predict the disease class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Pipeline: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Function: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Sparse Categorical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Crossentropy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Optimizer: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Pipeline: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Takes a new uploaded leaf image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Preprocesses: resizing and normalization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Passes through the trained CNN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2848E6-8402-FBD3-A037-F83CA9D83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1800" y="1118235"/>
            <a:ext cx="4572000" cy="505555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B3C08F1-AD62-768B-37D1-A3259958B62A}"/>
              </a:ext>
            </a:extLst>
          </p:cNvPr>
          <p:cNvSpPr txBox="1"/>
          <p:nvPr/>
        </p:nvSpPr>
        <p:spPr>
          <a:xfrm>
            <a:off x="7030720" y="6356350"/>
            <a:ext cx="4323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architecture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21308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51886-AA43-422E-B193-F1F3DF7D8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SUMMARY AND OUTCOMES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BD4F9CE-26BB-4441-99A7-B6599E9CF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smtClean="0"/>
              <a:t>7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CE34BF-DE2D-9979-CE24-4679559DD5F6}"/>
              </a:ext>
            </a:extLst>
          </p:cNvPr>
          <p:cNvSpPr txBox="1"/>
          <p:nvPr/>
        </p:nvSpPr>
        <p:spPr>
          <a:xfrm>
            <a:off x="687832" y="2590800"/>
            <a:ext cx="110236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Summary: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 comprehensive AI-powered plant disease detection system that democratizes agricultural knowledge by providing instant, accurate diagnosis in farmers' native languages. The system combines cutting-edge Convolutional Neural Network with advanced NLP to offer dual input methods - image upload and text-based symptom description.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 Delivered: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Dual detection system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for 13 languages (12 Indian + English)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38 plant disease classifications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Detailed treatment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2624630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E461D-F278-9592-C94B-A605C8991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F1B4B-3CB2-194F-CC83-866DC3C46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2116" y="141223"/>
            <a:ext cx="10168128" cy="1179576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SUMMARY AND OUTCOMES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308B9B8-0EFC-797E-151F-F8AA4C332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smtClean="0"/>
              <a:t>8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CF6A66-D23D-07F9-CE84-98670BCF0ED1}"/>
              </a:ext>
            </a:extLst>
          </p:cNvPr>
          <p:cNvSpPr txBox="1"/>
          <p:nvPr/>
        </p:nvSpPr>
        <p:spPr>
          <a:xfrm>
            <a:off x="754380" y="1363395"/>
            <a:ext cx="1102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Outcomes: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4C349B-5B97-42C7-BEF7-8CE2128051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848" y="2004646"/>
            <a:ext cx="3772408" cy="40741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FCCA769-E04E-2A89-09ED-EC699D72A6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9976" y="2004645"/>
            <a:ext cx="3772408" cy="40741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79D5FD3-1422-1578-3190-64EB5DCE51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5104" y="2004645"/>
            <a:ext cx="3559048" cy="407416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F12CF94-847D-F868-205D-D0A149BDB9FA}"/>
              </a:ext>
            </a:extLst>
          </p:cNvPr>
          <p:cNvSpPr txBox="1"/>
          <p:nvPr/>
        </p:nvSpPr>
        <p:spPr>
          <a:xfrm>
            <a:off x="386080" y="6207760"/>
            <a:ext cx="369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based Analysis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EAD9BB-DB16-8CB7-94F9-B9131A69C4C0}"/>
              </a:ext>
            </a:extLst>
          </p:cNvPr>
          <p:cNvSpPr txBox="1"/>
          <p:nvPr/>
        </p:nvSpPr>
        <p:spPr>
          <a:xfrm>
            <a:off x="4379976" y="6207760"/>
            <a:ext cx="3772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based Analysis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A17B81-452E-00BB-5C54-A47E58E32488}"/>
              </a:ext>
            </a:extLst>
          </p:cNvPr>
          <p:cNvSpPr txBox="1"/>
          <p:nvPr/>
        </p:nvSpPr>
        <p:spPr>
          <a:xfrm>
            <a:off x="8422640" y="6207760"/>
            <a:ext cx="3461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text analysis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5764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1840C-DF93-5CBA-C6D6-CAB8A9BAF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8B57D-3796-B94B-3552-223EEF6BB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8068F03-C7B4-BC13-7D6B-5183B39AC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22B5638-7B08-CB3C-D0B6-71C030248B7B}"/>
              </a:ext>
            </a:extLst>
          </p:cNvPr>
          <p:cNvSpPr txBox="1"/>
          <p:nvPr/>
        </p:nvSpPr>
        <p:spPr>
          <a:xfrm>
            <a:off x="1117600" y="1712671"/>
            <a:ext cx="11074400" cy="46592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Planned Improvements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for 20+ Plant Species: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 the model to detect diseases across more crops for wider agricultural impact.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ONNX Model for Mobile Deployment: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the model to ONNX format to enable efficient, on-device prediction on Android/iOS.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Voice-Based Symptom Input: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 farmers to describe symptoms using speech in their native language for easier usability.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Offline Mode: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predictions without internet by using lightweight, device-optimized models.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In-App Farmer Advisory System: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actionable guidance, prevention tips, and agricultural best practices directly within the system.</a:t>
            </a:r>
          </a:p>
        </p:txBody>
      </p:sp>
    </p:spTree>
    <p:extLst>
      <p:ext uri="{BB962C8B-B14F-4D97-AF65-F5344CB8AC3E}">
        <p14:creationId xmlns:p14="http://schemas.microsoft.com/office/powerpoint/2010/main" val="40009170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209E4-B947-4446-AD42-C1B3A0C1F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Outcomes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1A06BCBE-7F1D-4794-A964-0B03C6178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D66CE5B-AC7B-8528-6F47-152F35958894}"/>
              </a:ext>
            </a:extLst>
          </p:cNvPr>
          <p:cNvSpPr txBox="1"/>
          <p:nvPr/>
        </p:nvSpPr>
        <p:spPr>
          <a:xfrm>
            <a:off x="3648456" y="2682240"/>
            <a:ext cx="11074400" cy="2954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completing this project, I learned: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for Image Classification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&amp; Augmentation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Building Custom CNN Models in TensorFlow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Training, Validation &amp; Evaluation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Application Understanding</a:t>
            </a:r>
          </a:p>
          <a:p>
            <a:pPr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0665396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90D7697-8E53-4EA8-8CBB-9C19575257BF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B927DC71-2909-427C-BDB0-3E47E210151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DF0A252-5923-47A2-A53A-F9BF7290891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AccentBox presentation</Template>
  <TotalTime>782</TotalTime>
  <Words>700</Words>
  <Application>Microsoft Office PowerPoint</Application>
  <PresentationFormat>Widescreen</PresentationFormat>
  <Paragraphs>117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Avenir Next LT Pro</vt:lpstr>
      <vt:lpstr>Calibri</vt:lpstr>
      <vt:lpstr>Courier New</vt:lpstr>
      <vt:lpstr>Segoe UI</vt:lpstr>
      <vt:lpstr>Times New Roman</vt:lpstr>
      <vt:lpstr>AccentBoxVTI</vt:lpstr>
      <vt:lpstr>Infosys Springboard Internship</vt:lpstr>
      <vt:lpstr>Project Objectives</vt:lpstr>
      <vt:lpstr>Methodology and Workflow</vt:lpstr>
      <vt:lpstr>Methodology and Workflow</vt:lpstr>
      <vt:lpstr>Key Analysis</vt:lpstr>
      <vt:lpstr>Model Architecture</vt:lpstr>
      <vt:lpstr>PROJECT SUMMARY AND OUTCOMES</vt:lpstr>
      <vt:lpstr>PROJECT SUMMARY AND OUTCOMES</vt:lpstr>
      <vt:lpstr>Future Enhancements</vt:lpstr>
      <vt:lpstr>Learning Outcomes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Sanchita H</dc:creator>
  <cp:lastModifiedBy>Sanchita H</cp:lastModifiedBy>
  <cp:revision>9</cp:revision>
  <dcterms:created xsi:type="dcterms:W3CDTF">2025-06-14T15:22:18Z</dcterms:created>
  <dcterms:modified xsi:type="dcterms:W3CDTF">2025-11-26T06:11:46Z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